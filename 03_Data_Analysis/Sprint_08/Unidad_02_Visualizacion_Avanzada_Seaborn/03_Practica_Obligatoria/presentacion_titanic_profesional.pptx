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1" d="100"/>
          <a:sy n="131" d="100"/>
        </p:scale>
        <p:origin x="101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9526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0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033"/>
          </a:solidFill>
          <a:ln w="12700">
            <a:solidFill>
              <a:srgbClr val="1020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5A437"/>
          </a:solidFill>
          <a:ln w="12700">
            <a:solidFill>
              <a:srgbClr val="E5A4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500000">
            <a:off x="7772400" y="-1051560"/>
            <a:ext cx="5394960" cy="5394960"/>
          </a:xfrm>
          <a:prstGeom prst="arc">
            <a:avLst/>
          </a:prstGeom>
          <a:solidFill>
            <a:srgbClr val="1F7A8C">
              <a:alpha val="75000"/>
            </a:srgbClr>
          </a:solidFill>
          <a:ln w="12700">
            <a:solidFill>
              <a:srgbClr val="1F7A8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200000">
            <a:off x="8549640" y="4023360"/>
            <a:ext cx="3931920" cy="3931920"/>
          </a:xfrm>
          <a:prstGeom prst="arc">
            <a:avLst/>
          </a:prstGeom>
          <a:solidFill>
            <a:srgbClr val="E5A437">
              <a:alpha val="82000"/>
            </a:srgbClr>
          </a:solidFill>
          <a:ln w="12700">
            <a:solidFill>
              <a:srgbClr val="E5A43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960120"/>
            <a:ext cx="2057400" cy="320040"/>
          </a:xfrm>
          <a:prstGeom prst="roundRect">
            <a:avLst>
              <a:gd name="adj" fmla="val 34286"/>
            </a:avLst>
          </a:prstGeom>
          <a:solidFill>
            <a:srgbClr val="FFF4DC"/>
          </a:solidFill>
          <a:ln w="12700">
            <a:solidFill>
              <a:srgbClr val="FFF4D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24128"/>
            <a:ext cx="1911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exploratorio · Seaborn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49808" y="185623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Supervivencia en el Titanic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86384" y="2670048"/>
            <a:ext cx="6217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D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Factores que influyeron en la mortalidad: sexo, edad, clase y puerto de embarque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804672" y="3703320"/>
            <a:ext cx="2926080" cy="0"/>
          </a:xfrm>
          <a:prstGeom prst="line">
            <a:avLst/>
          </a:prstGeom>
          <a:noFill/>
          <a:ln w="25400">
            <a:solidFill>
              <a:srgbClr val="E5A43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397764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8D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basada en las gráficas del notebook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6384" y="614476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5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Carlos Sancho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Una tragedia con alta mortalidad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lectura del dataset confirma que sobrevivir fue la excepción, no la norma.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E5A437"/>
          </a:solidFill>
          <a:ln w="12700">
            <a:solidFill>
              <a:srgbClr val="E5A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Mensaje clave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número de pasajeros fallecidos supera claramente al de supervivientes.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tasa de mortalidad ronda el 60% en la muestra utilizada.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punto justifica analizar qué factores aumentaron o redujeron las opciones de sobrevivir.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1c93d3df-83aa-4817-b704-549697e9d7c0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“Mujeres y niños primero” se observa en los datos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grupo al que pertenecía cada pasajero marca diferencias muy claras en la supervivencia.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de la gráfica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mujeres presentan la tasa de supervivencia más alta.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niños también sobreviven más que los hombres adultos.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hombres tienen una probabilidad de supervivencia mucho más baja.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92791476-1c39-4d1e-8091-ada3fb3b749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La clase del billete fue un factor determinante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supervivencia disminuye de forma progresiva desde primera hasta tercera clase.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Impacto de la clase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clase concentra la mayor tasa de supervivencia.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Segunda clase se sitúa en una posición intermedia.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Tercera clase queda muy por debajo, lo que sugiere desigualdad en el acceso a la evacuación.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e0958041-b326-490f-9578-68620dc1693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La clase también condicionó a mujeres y niños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patrón por grupo existe, pero no afecta igual a todas las clases.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E5A437"/>
          </a:solidFill>
          <a:ln w="12700">
            <a:solidFill>
              <a:srgbClr val="E5A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Relación cruzada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mujeres de primera y segunda clase tienen tasas muy altas de supervivencia.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tercera clase, mujeres y niños caen a valores mucho más bajos.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hombres mantienen tasas reducidas en todas las clases, especialmente en segunda y tercera.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cff3eb5a-9fb0-413a-9dcf-e878c1775ce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El puerto de embarque refleja perfiles distintos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distribución por clase no fue igual en Southampton, Cherbourg y Queenstown.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muestra el puerto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Southampton concentra muchos pasajeros de tercera clase.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Cherbourg tiene una proporción relevante de pasajeros de primera clase.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Queenstown presenta menos pasajeros y mayor peso relativo de tercera clase.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b38d2c8b-4e2e-45e2-9a84-d36dd68a1c0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7A8C"/>
          </a:solidFill>
          <a:ln w="12700">
            <a:solidFill>
              <a:srgbClr val="1F7A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384048"/>
            <a:ext cx="11155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Conclusión: el puerto no actúa solo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21208" y="84124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mayor supervivencia en Cherbourg puede explicarse por el perfil de pasajeros que embarcó allí.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30352" y="1417320"/>
            <a:ext cx="3794760" cy="4526280"/>
          </a:xfrm>
          <a:prstGeom prst="roundRect">
            <a:avLst>
              <a:gd name="adj" fmla="val 3614"/>
            </a:avLst>
          </a:prstGeom>
          <a:solidFill>
            <a:srgbClr val="FFFFFF"/>
          </a:solidFill>
          <a:ln w="12700">
            <a:solidFill>
              <a:srgbClr val="D9E2EA"/>
            </a:solidFill>
            <a:prstDash val="solid"/>
          </a:ln>
          <a:effectLst>
            <a:outerShdw blurRad="25400" dist="50800" dir="2700000" algn="bl" rotWithShape="0">
              <a:srgbClr val="CBD5E1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30352" y="1417320"/>
            <a:ext cx="73152" cy="4526280"/>
          </a:xfrm>
          <a:prstGeom prst="rect">
            <a:avLst/>
          </a:prstGeom>
          <a:solidFill>
            <a:srgbClr val="E5A437"/>
          </a:solidFill>
          <a:ln w="12700">
            <a:solidFill>
              <a:srgbClr val="E5A4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1709928"/>
            <a:ext cx="3337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10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final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77824" y="2468880"/>
            <a:ext cx="3200400" cy="3200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Cherbourg muestra la mayor tasa de supervivencia por puerto.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resultado parece estar relacionado con una mayor presencia de primera clase.</a:t>
            </a:r>
            <a:endParaRPr lang="en-US" sz="1330" dirty="0"/>
          </a:p>
          <a:p>
            <a:r>
              <a:rPr lang="en-US" sz="1330" dirty="0">
                <a:solidFill>
                  <a:srgbClr val="4A55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supervivencia se explica mejor combinando sexo, edad, clase y puerto, no con un único factor.</a:t>
            </a:r>
            <a:endParaRPr lang="en-US" sz="1330" dirty="0"/>
          </a:p>
        </p:txBody>
      </p:sp>
      <p:sp>
        <p:nvSpPr>
          <p:cNvPr id="10" name="Shape 8"/>
          <p:cNvSpPr/>
          <p:nvPr/>
        </p:nvSpPr>
        <p:spPr>
          <a:xfrm>
            <a:off x="4572000" y="1252728"/>
            <a:ext cx="7232904" cy="5010912"/>
          </a:xfrm>
          <a:prstGeom prst="roundRect">
            <a:avLst>
              <a:gd name="adj" fmla="val 1825"/>
            </a:avLst>
          </a:prstGeom>
          <a:solidFill>
            <a:srgbClr val="FFFFFF"/>
          </a:solidFill>
          <a:ln w="12700">
            <a:solidFill>
              <a:srgbClr val="D7DEE7"/>
            </a:solidFill>
            <a:prstDash val="solid"/>
          </a:ln>
          <a:effectLst>
            <a:outerShdw blurRad="25400" dist="50800" dir="2700000" algn="bl" rotWithShape="0">
              <a:srgbClr val="94A3B8">
                <a:alpha val="20000"/>
              </a:srgbClr>
            </a:outerShdw>
          </a:effectLst>
        </p:spPr>
      </p:sp>
      <p:pic>
        <p:nvPicPr>
          <p:cNvPr id="11" name="Image 0" descr="/mnt/data/7fcf86ae-4ade-4d32-9f7c-c2c3c180aeb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645152" y="1325880"/>
            <a:ext cx="7086600" cy="486460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02920" y="644652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Titanic · Visualización de datos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384280" y="6437376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463</Words>
  <Application>Microsoft Office PowerPoint</Application>
  <PresentationFormat>Panorámica</PresentationFormat>
  <Paragraphs>60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The Bridge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Supervivencia en el Titanic</dc:title>
  <dc:subject>Presentación Titanic</dc:subject>
  <dc:creator>Carlos Sancho</dc:creator>
  <cp:lastModifiedBy>Carlos Sancho</cp:lastModifiedBy>
  <cp:revision>1</cp:revision>
  <dcterms:created xsi:type="dcterms:W3CDTF">2026-05-13T19:12:03Z</dcterms:created>
  <dcterms:modified xsi:type="dcterms:W3CDTF">2026-05-13T19:19:01Z</dcterms:modified>
</cp:coreProperties>
</file>